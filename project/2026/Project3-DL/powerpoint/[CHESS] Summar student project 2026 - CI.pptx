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500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0E845AD-1C5E-4C49-BC2A-0503F9F9E533}">
          <p14:sldIdLst>
            <p14:sldId id="5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0203"/>
    <a:srgbClr val="660033"/>
    <a:srgbClr val="993366"/>
    <a:srgbClr val="006699"/>
    <a:srgbClr val="008080"/>
    <a:srgbClr val="D60093"/>
    <a:srgbClr val="CC3399"/>
    <a:srgbClr val="BC9BFF"/>
    <a:srgbClr val="AFABAB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48" autoAdjust="0"/>
    <p:restoredTop sz="95198" autoAdjust="0"/>
  </p:normalViewPr>
  <p:slideViewPr>
    <p:cSldViewPr snapToGrid="0" showGuides="1">
      <p:cViewPr varScale="1">
        <p:scale>
          <a:sx n="104" d="100"/>
          <a:sy n="104" d="100"/>
        </p:scale>
        <p:origin x="240" y="6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3" d="100"/>
          <a:sy n="63" d="100"/>
        </p:scale>
        <p:origin x="2528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1B92FC-FB88-48CC-A0CD-3EC35BC72F6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3E0B10-9974-4471-8887-F794DB887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48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0453E-2536-4545-9B74-E0F6919A7E7C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7F09C-A1C8-45BF-B56B-05CD020E7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00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0453E-2536-4545-9B74-E0F6919A7E7C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7F09C-A1C8-45BF-B56B-05CD020E7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151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0453E-2536-4545-9B74-E0F6919A7E7C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7F09C-A1C8-45BF-B56B-05CD020E7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1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0453E-2536-4545-9B74-E0F6919A7E7C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7F09C-A1C8-45BF-B56B-05CD020E7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46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0453E-2536-4545-9B74-E0F6919A7E7C}" type="datetimeFigureOut">
              <a:rPr lang="en-US" smtClean="0"/>
              <a:t>5/27/26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7F09C-A1C8-45BF-B56B-05CD020E7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503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0453E-2536-4545-9B74-E0F6919A7E7C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7F09C-A1C8-45BF-B56B-05CD020E7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595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0453E-2536-4545-9B74-E0F6919A7E7C}" type="datetimeFigureOut">
              <a:rPr lang="en-US" smtClean="0"/>
              <a:t>5/27/26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7F09C-A1C8-45BF-B56B-05CD020E748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C15B2A-185E-18AD-970F-651CD7601B7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85000">
                <a:schemeClr val="accent1">
                  <a:lumMod val="5000"/>
                  <a:lumOff val="95000"/>
                </a:schemeClr>
              </a:gs>
              <a:gs pos="11000">
                <a:srgbClr val="00738D"/>
              </a:gs>
              <a:gs pos="0">
                <a:srgbClr val="006699"/>
              </a:gs>
              <a:gs pos="50000">
                <a:srgbClr val="BCDCDF"/>
              </a:gs>
              <a:gs pos="24000">
                <a:srgbClr val="008080"/>
              </a:gs>
            </a:gsLst>
            <a:lin ang="189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EDF131-627A-0C54-29C4-0A4044BEEA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22308" y="6270993"/>
            <a:ext cx="1569693" cy="535838"/>
          </a:xfrm>
          <a:prstGeom prst="rect">
            <a:avLst/>
          </a:prstGeom>
        </p:spPr>
      </p:pic>
      <p:pic>
        <p:nvPicPr>
          <p:cNvPr id="7" name="Picture 2" descr="CHESS main | CHESS">
            <a:extLst>
              <a:ext uri="{FF2B5EF4-FFF2-40B4-BE49-F238E27FC236}">
                <a16:creationId xmlns:a16="http://schemas.microsoft.com/office/drawing/2014/main" id="{2883CE5C-F228-48FA-5661-D58ACC54EBC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0944" y="2"/>
            <a:ext cx="3133725" cy="145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439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0453E-2536-4545-9B74-E0F6919A7E7C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7F09C-A1C8-45BF-B56B-05CD020E7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625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0453E-2536-4545-9B74-E0F6919A7E7C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7F09C-A1C8-45BF-B56B-05CD020E7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609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0453E-2536-4545-9B74-E0F6919A7E7C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7F09C-A1C8-45BF-B56B-05CD020E7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435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0453E-2536-4545-9B74-E0F6919A7E7C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7F09C-A1C8-45BF-B56B-05CD020E7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4230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92E4674-018C-3761-49AB-BD435752B500}"/>
              </a:ext>
            </a:extLst>
          </p:cNvPr>
          <p:cNvGrpSpPr/>
          <p:nvPr userDrawn="1"/>
        </p:nvGrpSpPr>
        <p:grpSpPr>
          <a:xfrm>
            <a:off x="0" y="-7241"/>
            <a:ext cx="12192000" cy="638299"/>
            <a:chOff x="0" y="0"/>
            <a:chExt cx="9144000" cy="70212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5C95DD6-4C66-EAAB-3F06-D2AE8E42E3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2643" y="0"/>
              <a:ext cx="4871357" cy="702129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766F7AB-1E1D-58BD-546E-D14689FCADB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6313"/>
            <a:stretch/>
          </p:blipFill>
          <p:spPr>
            <a:xfrm>
              <a:off x="0" y="0"/>
              <a:ext cx="4272643" cy="7021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98553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0453E-2536-4545-9B74-E0F6919A7E7C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57F09C-A1C8-45BF-B56B-05CD020E7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917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F08BED6-98DB-2E7F-1965-831EE5DE35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565" b="14408"/>
          <a:stretch>
            <a:fillRect/>
          </a:stretch>
        </p:blipFill>
        <p:spPr>
          <a:xfrm>
            <a:off x="404037" y="2132692"/>
            <a:ext cx="5080122" cy="4397009"/>
          </a:xfrm>
          <a:prstGeom prst="rect">
            <a:avLst/>
          </a:prstGeom>
          <a:ln>
            <a:solidFill>
              <a:srgbClr val="993366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01CBFB-7763-53B1-10C3-26C038F5E135}"/>
              </a:ext>
            </a:extLst>
          </p:cNvPr>
          <p:cNvSpPr txBox="1"/>
          <p:nvPr/>
        </p:nvSpPr>
        <p:spPr>
          <a:xfrm>
            <a:off x="30154" y="89931"/>
            <a:ext cx="98655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Rockwell" panose="02060603020205020403" pitchFamily="18" charset="77"/>
              </a:rPr>
              <a:t>A Scalable Workflow for Curating and Classifying Diffraction Images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EB024D-38AD-CBB3-2859-6295434F8E43}"/>
              </a:ext>
            </a:extLst>
          </p:cNvPr>
          <p:cNvSpPr txBox="1"/>
          <p:nvPr/>
        </p:nvSpPr>
        <p:spPr>
          <a:xfrm>
            <a:off x="5734247" y="2330400"/>
            <a:ext cx="6350095" cy="3485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t">
              <a:lnSpc>
                <a:spcPts val="1500"/>
              </a:lnSpc>
              <a:buNone/>
            </a:pPr>
            <a:endParaRPr lang="en-US" sz="1300" b="0" i="0" dirty="0">
              <a:effectLst/>
              <a:latin typeface="Rockwell" panose="02060603020205020403" pitchFamily="18" charset="77"/>
            </a:endParaRPr>
          </a:p>
          <a:p>
            <a:pPr algn="just" fontAlgn="t">
              <a:buNone/>
            </a:pPr>
            <a:r>
              <a:rPr lang="en-US" sz="1600" b="1" i="0" dirty="0">
                <a:effectLst/>
                <a:latin typeface="Rockwell" panose="02060603020205020403" pitchFamily="18" charset="77"/>
              </a:rPr>
              <a:t>Goal:</a:t>
            </a:r>
            <a:endParaRPr lang="en-US" sz="1600" b="0" i="0" dirty="0">
              <a:effectLst/>
              <a:latin typeface="Rockwell" panose="02060603020205020403" pitchFamily="18" charset="77"/>
            </a:endParaRPr>
          </a:p>
          <a:p>
            <a:pPr marL="800100" lvl="1" indent="-342900" algn="just" fontAlgn="t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Rockwell" panose="02060603020205020403" pitchFamily="18" charset="77"/>
              </a:rPr>
              <a:t>Automate labeling and classification of large diffraction datasets using machine learning</a:t>
            </a:r>
          </a:p>
          <a:p>
            <a:pPr algn="just" fontAlgn="t">
              <a:buNone/>
            </a:pPr>
            <a:endParaRPr lang="en-US" sz="1600" b="0" i="0" dirty="0">
              <a:effectLst/>
              <a:latin typeface="Rockwell" panose="02060603020205020403" pitchFamily="18" charset="77"/>
            </a:endParaRPr>
          </a:p>
          <a:p>
            <a:pPr algn="just" fontAlgn="t">
              <a:buNone/>
            </a:pPr>
            <a:r>
              <a:rPr lang="en-US" sz="1600" b="0" i="0" dirty="0">
                <a:effectLst/>
                <a:latin typeface="Rockwell" panose="02060603020205020403" pitchFamily="18" charset="77"/>
              </a:rPr>
              <a:t>Adopt a </a:t>
            </a:r>
            <a:r>
              <a:rPr lang="en-US" sz="1600" i="0" dirty="0">
                <a:effectLst/>
                <a:latin typeface="Rockwell" panose="02060603020205020403" pitchFamily="18" charset="77"/>
              </a:rPr>
              <a:t>supervised learning workflow:</a:t>
            </a:r>
          </a:p>
          <a:p>
            <a:pPr algn="just" fontAlgn="t">
              <a:buNone/>
            </a:pPr>
            <a:endParaRPr lang="en-US" sz="1600" i="0" dirty="0">
              <a:effectLst/>
              <a:latin typeface="Rockwell" panose="02060603020205020403" pitchFamily="18" charset="77"/>
            </a:endParaRPr>
          </a:p>
          <a:p>
            <a:pPr marL="800100" lvl="1" indent="-342900" algn="just" fontAlgn="t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Rockwell" panose="02060603020205020403" pitchFamily="18" charset="77"/>
              </a:rPr>
              <a:t>Train neural networks on a curated set of pre-labeled diffraction images</a:t>
            </a:r>
          </a:p>
          <a:p>
            <a:pPr marL="800100" lvl="1" indent="-342900" algn="just" fontAlgn="t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Rockwell" panose="02060603020205020403" pitchFamily="18" charset="77"/>
              </a:rPr>
              <a:t>The trained classifier will assign images to diffraction</a:t>
            </a:r>
          </a:p>
          <a:p>
            <a:pPr lvl="1" algn="just" fontAlgn="t"/>
            <a:endParaRPr lang="en-US" sz="1600" b="0" i="0" dirty="0">
              <a:effectLst/>
              <a:latin typeface="Rockwell" panose="02060603020205020403" pitchFamily="18" charset="77"/>
            </a:endParaRPr>
          </a:p>
          <a:p>
            <a:pPr lvl="1" algn="just" fontAlgn="t"/>
            <a:endParaRPr lang="en-US" sz="1600" b="0" i="0" dirty="0">
              <a:effectLst/>
              <a:latin typeface="Rockwell" panose="02060603020205020403" pitchFamily="18" charset="77"/>
            </a:endParaRPr>
          </a:p>
          <a:p>
            <a:pPr algn="just" fontAlgn="t">
              <a:buNone/>
            </a:pPr>
            <a:r>
              <a:rPr lang="en-US" sz="1600" b="1" i="0" dirty="0">
                <a:effectLst/>
                <a:latin typeface="Rockwell" panose="02060603020205020403" pitchFamily="18" charset="77"/>
              </a:rPr>
              <a:t>Application:</a:t>
            </a:r>
            <a:endParaRPr lang="en-US" sz="1600" b="0" i="0" dirty="0">
              <a:effectLst/>
              <a:latin typeface="Rockwell" panose="02060603020205020403" pitchFamily="18" charset="77"/>
            </a:endParaRPr>
          </a:p>
          <a:p>
            <a:pPr marL="800100" lvl="1" indent="-342900" algn="just" fontAlgn="t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Rockwell" panose="02060603020205020403" pitchFamily="18" charset="77"/>
              </a:rPr>
              <a:t>Automated, high-throughput analysis of diffraction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B89FE8-0D10-D670-EDF0-DCB2EE5C5D0F}"/>
              </a:ext>
            </a:extLst>
          </p:cNvPr>
          <p:cNvSpPr txBox="1"/>
          <p:nvPr/>
        </p:nvSpPr>
        <p:spPr>
          <a:xfrm>
            <a:off x="336791" y="808344"/>
            <a:ext cx="11518417" cy="106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t">
              <a:lnSpc>
                <a:spcPts val="1500"/>
              </a:lnSpc>
              <a:buNone/>
            </a:pPr>
            <a:r>
              <a:rPr lang="en-US" sz="1600" b="0" i="0" dirty="0">
                <a:effectLst/>
                <a:latin typeface="Rockwell" panose="02060603020205020403" pitchFamily="18" charset="77"/>
              </a:rPr>
              <a:t>Large single-crystal databases contain ~huge number of high-quality diffraction images → manual curation is no longer feasible</a:t>
            </a:r>
          </a:p>
          <a:p>
            <a:pPr algn="just" fontAlgn="t">
              <a:lnSpc>
                <a:spcPts val="1500"/>
              </a:lnSpc>
              <a:buNone/>
            </a:pPr>
            <a:endParaRPr lang="en-US" sz="1600" b="0" i="0" dirty="0">
              <a:effectLst/>
              <a:latin typeface="Rockwell" panose="02060603020205020403" pitchFamily="18" charset="77"/>
            </a:endParaRPr>
          </a:p>
          <a:p>
            <a:pPr algn="just" fontAlgn="t">
              <a:lnSpc>
                <a:spcPts val="1500"/>
              </a:lnSpc>
              <a:buNone/>
            </a:pPr>
            <a:r>
              <a:rPr lang="en-US" sz="1600" b="0" i="0" dirty="0">
                <a:effectLst/>
                <a:latin typeface="Rockwell" panose="02060603020205020403" pitchFamily="18" charset="77"/>
              </a:rPr>
              <a:t>Current infrastructure at CHESS GPU enables scalable analysis</a:t>
            </a:r>
            <a:r>
              <a:rPr lang="en-US" sz="1600" dirty="0">
                <a:latin typeface="Rockwell" panose="02060603020205020403" pitchFamily="18" charset="77"/>
              </a:rPr>
              <a:t>: </a:t>
            </a:r>
            <a:r>
              <a:rPr lang="en-US" sz="1600" b="0" i="0" dirty="0">
                <a:effectLst/>
                <a:latin typeface="Rockwell" panose="02060603020205020403" pitchFamily="18" charset="77"/>
              </a:rPr>
              <a:t>existing methods rely on </a:t>
            </a:r>
            <a:r>
              <a:rPr lang="en-US" sz="1600" b="1" i="0" dirty="0">
                <a:effectLst/>
                <a:latin typeface="Rockwell" panose="02060603020205020403" pitchFamily="18" charset="77"/>
              </a:rPr>
              <a:t>pixel-based embeddings</a:t>
            </a:r>
            <a:br>
              <a:rPr lang="en-US" sz="1600" b="0" i="0" dirty="0">
                <a:effectLst/>
                <a:latin typeface="Rockwell" panose="02060603020205020403" pitchFamily="18" charset="77"/>
              </a:rPr>
            </a:br>
            <a:r>
              <a:rPr lang="en-US" sz="1600" b="0" i="0" dirty="0">
                <a:effectLst/>
                <a:latin typeface="Rockwell" panose="02060603020205020403" pitchFamily="18" charset="77"/>
              </a:rPr>
              <a:t>→ direct comparison of raw pixel values rather than learned features limits performance</a:t>
            </a:r>
          </a:p>
        </p:txBody>
      </p:sp>
    </p:spTree>
    <p:extLst>
      <p:ext uri="{BB962C8B-B14F-4D97-AF65-F5344CB8AC3E}">
        <p14:creationId xmlns:p14="http://schemas.microsoft.com/office/powerpoint/2010/main" val="1290318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3002</TotalTime>
  <Words>103</Words>
  <Application>Microsoft Macintosh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Rockwell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Suchismita Sarker</dc:creator>
  <cp:lastModifiedBy>Suchismita Sarker</cp:lastModifiedBy>
  <cp:revision>242</cp:revision>
  <dcterms:created xsi:type="dcterms:W3CDTF">2022-04-26T03:53:50Z</dcterms:created>
  <dcterms:modified xsi:type="dcterms:W3CDTF">2026-05-27T19:26:34Z</dcterms:modified>
</cp:coreProperties>
</file>